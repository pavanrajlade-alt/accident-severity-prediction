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8" d="100"/>
          <a:sy n="88" d="100"/>
        </p:scale>
        <p:origin x="1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an lade" userId="46f00533e237212e" providerId="LiveId" clId="{0A2444AE-7041-4093-9E27-311D6F89C555}"/>
    <pc:docChg chg="modSld">
      <pc:chgData name="pavan lade" userId="46f00533e237212e" providerId="LiveId" clId="{0A2444AE-7041-4093-9E27-311D6F89C555}" dt="2026-02-02T14:24:00.217" v="5" actId="18131"/>
      <pc:docMkLst>
        <pc:docMk/>
      </pc:docMkLst>
      <pc:sldChg chg="modSp mod">
        <pc:chgData name="pavan lade" userId="46f00533e237212e" providerId="LiveId" clId="{0A2444AE-7041-4093-9E27-311D6F89C555}" dt="2026-02-02T14:21:56.630" v="2" actId="15"/>
        <pc:sldMkLst>
          <pc:docMk/>
          <pc:sldMk cId="643173864" sldId="257"/>
        </pc:sldMkLst>
        <pc:spChg chg="mod">
          <ac:chgData name="pavan lade" userId="46f00533e237212e" providerId="LiveId" clId="{0A2444AE-7041-4093-9E27-311D6F89C555}" dt="2026-02-02T14:21:56.630" v="2" actId="15"/>
          <ac:spMkLst>
            <pc:docMk/>
            <pc:sldMk cId="643173864" sldId="257"/>
            <ac:spMk id="4" creationId="{9946DBD2-47DF-2D20-69FA-12D5C3DF5F80}"/>
          </ac:spMkLst>
        </pc:spChg>
      </pc:sldChg>
      <pc:sldChg chg="modSp mod">
        <pc:chgData name="pavan lade" userId="46f00533e237212e" providerId="LiveId" clId="{0A2444AE-7041-4093-9E27-311D6F89C555}" dt="2026-02-02T14:24:00.217" v="5" actId="18131"/>
        <pc:sldMkLst>
          <pc:docMk/>
          <pc:sldMk cId="3944636416" sldId="258"/>
        </pc:sldMkLst>
        <pc:spChg chg="mod">
          <ac:chgData name="pavan lade" userId="46f00533e237212e" providerId="LiveId" clId="{0A2444AE-7041-4093-9E27-311D6F89C555}" dt="2026-02-02T14:23:30.104" v="4" actId="2711"/>
          <ac:spMkLst>
            <pc:docMk/>
            <pc:sldMk cId="3944636416" sldId="258"/>
            <ac:spMk id="6" creationId="{FA3C12A0-63B6-637B-1DA2-DC6FCB3BBCD5}"/>
          </ac:spMkLst>
        </pc:spChg>
        <pc:picChg chg="mod modCrop">
          <ac:chgData name="pavan lade" userId="46f00533e237212e" providerId="LiveId" clId="{0A2444AE-7041-4093-9E27-311D6F89C555}" dt="2026-02-02T14:24:00.217" v="5" actId="18131"/>
          <ac:picMkLst>
            <pc:docMk/>
            <pc:sldMk cId="3944636416" sldId="258"/>
            <ac:picMk id="12" creationId="{945AE425-7973-B4D0-D969-9A597A4F80C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AC0A9-B9D9-41B9-B994-7BB0A945B9C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4236-CBBF-4F54-B1E4-5F38247D9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19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buClr>
                <a:schemeClr val="accent1">
                  <a:lumMod val="75000"/>
                </a:schemeClr>
              </a:buClr>
              <a:defRPr/>
            </a:lvl1pPr>
            <a:lvl2pPr>
              <a:buClr>
                <a:schemeClr val="accent1">
                  <a:lumMod val="75000"/>
                </a:schemeClr>
              </a:buClr>
              <a:defRPr/>
            </a:lvl2pPr>
            <a:lvl3pPr>
              <a:buClr>
                <a:schemeClr val="accent1">
                  <a:lumMod val="75000"/>
                </a:schemeClr>
              </a:buClr>
              <a:defRPr/>
            </a:lvl3pPr>
            <a:lvl4pPr>
              <a:buClr>
                <a:schemeClr val="accent1">
                  <a:lumMod val="75000"/>
                </a:schemeClr>
              </a:buClr>
              <a:defRPr/>
            </a:lvl4pPr>
            <a:lvl5pPr>
              <a:buClr>
                <a:schemeClr val="accent1">
                  <a:lumMod val="75000"/>
                </a:schemeClr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AC0A9-B9D9-41B9-B994-7BB0A945B9C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48174236-CBBF-4F54-B1E4-5F38247D9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396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AC0A9-B9D9-41B9-B994-7BB0A945B9C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4236-CBBF-4F54-B1E4-5F38247D9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622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AC0A9-B9D9-41B9-B994-7BB0A945B9C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4236-CBBF-4F54-B1E4-5F38247D9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306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AC0A9-B9D9-41B9-B994-7BB0A945B9C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4236-CBBF-4F54-B1E4-5F38247D9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456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AC0A9-B9D9-41B9-B994-7BB0A945B9C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4236-CBBF-4F54-B1E4-5F38247D9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043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AC0A9-B9D9-41B9-B994-7BB0A945B9C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4236-CBBF-4F54-B1E4-5F38247D9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03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AC0A9-B9D9-41B9-B994-7BB0A945B9C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4236-CBBF-4F54-B1E4-5F38247D9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3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AC0A9-B9D9-41B9-B994-7BB0A945B9C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4236-CBBF-4F54-B1E4-5F38247D9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066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AC0A9-B9D9-41B9-B994-7BB0A945B9C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4236-CBBF-4F54-B1E4-5F38247D9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943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AC0A9-B9D9-41B9-B994-7BB0A945B9C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4236-CBBF-4F54-B1E4-5F38247D9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150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AC0A9-B9D9-41B9-B994-7BB0A945B9C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4236-CBBF-4F54-B1E4-5F38247D9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9111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AC0A9-B9D9-41B9-B994-7BB0A945B9C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4236-CBBF-4F54-B1E4-5F38247D9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8037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AC0A9-B9D9-41B9-B994-7BB0A945B9C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4236-CBBF-4F54-B1E4-5F38247D9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47832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AC0A9-B9D9-41B9-B994-7BB0A945B9C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4236-CBBF-4F54-B1E4-5F38247D9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4441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AC0A9-B9D9-41B9-B994-7BB0A945B9C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4236-CBBF-4F54-B1E4-5F38247D9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7910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AC0A9-B9D9-41B9-B994-7BB0A945B9C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4236-CBBF-4F54-B1E4-5F38247D9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21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83AC0A9-B9D9-41B9-B994-7BB0A945B9C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174236-CBBF-4F54-B1E4-5F38247D9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410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3CA15-76F9-D07A-74CE-2E77737AC2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5543" y="254000"/>
            <a:ext cx="10022114" cy="1988457"/>
          </a:xfrm>
        </p:spPr>
        <p:txBody>
          <a:bodyPr>
            <a:normAutofit/>
          </a:bodyPr>
          <a:lstStyle/>
          <a:p>
            <a:r>
              <a:rPr lang="en-IN" b="1" dirty="0"/>
              <a:t>Accident Severity Prediction &amp; Safety Insights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AF7B11-FC1A-C0A3-EF94-4576C8431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50063" y="4286553"/>
            <a:ext cx="6987645" cy="1388534"/>
          </a:xfrm>
        </p:spPr>
        <p:txBody>
          <a:bodyPr/>
          <a:lstStyle/>
          <a:p>
            <a:r>
              <a:rPr lang="en-US" dirty="0"/>
              <a:t>Data Science &amp; Machine Learning Project</a:t>
            </a:r>
            <a:br>
              <a:rPr lang="en-US" dirty="0"/>
            </a:br>
            <a:r>
              <a:rPr lang="en-US" b="1" dirty="0"/>
              <a:t>Pavan Lade | Intern – Data Science &amp; AI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1154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AE632-63B0-8D70-1E22-A45AE56A1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6D7C4-EDC3-A98D-2E83-CFFBBF1932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0428" y="428173"/>
            <a:ext cx="9633857" cy="769256"/>
          </a:xfrm>
        </p:spPr>
        <p:txBody>
          <a:bodyPr>
            <a:normAutofit fontScale="90000"/>
          </a:bodyPr>
          <a:lstStyle/>
          <a:p>
            <a:r>
              <a:rPr lang="en-IN" dirty="0"/>
              <a:t>Business Problem &amp; 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46DBD2-47DF-2D20-69FA-12D5C3DF5F8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802392" y="1825305"/>
            <a:ext cx="7864653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Road accidents lead to severe injuries and fatalities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Early prediction of accident severity can help: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5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200150" lvl="2" indent="-28575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22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Emergency response prioritization</a:t>
            </a:r>
          </a:p>
          <a:p>
            <a:pPr marL="1200150" lvl="2" indent="-28575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22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Road safety planning</a:t>
            </a:r>
          </a:p>
          <a:p>
            <a:pPr marL="1200150" lvl="2" indent="-28575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22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Policy decisions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173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DFBBF-85EF-C611-5B57-83E05A236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EC2A2-C58C-E638-F06B-49888B73E3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0677" y="166914"/>
            <a:ext cx="9633857" cy="653143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Dataset Overview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A3C12A0-63B6-637B-1DA2-DC6FCB3BBCD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202883" y="1172871"/>
            <a:ext cx="5351803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source: Vehicle Collision Dataset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records: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231K accidents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variable: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 Injury (Injured / Killed)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IN" sz="1800" dirty="0"/>
              <a:t>Features include:</a:t>
            </a:r>
          </a:p>
          <a:p>
            <a:pPr marL="742950" lvl="1" indent="-28575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 type</a:t>
            </a:r>
          </a:p>
          <a:p>
            <a:pPr marL="742950" lvl="1" indent="-28575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Gender</a:t>
            </a:r>
          </a:p>
          <a:p>
            <a:pPr marL="742950" lvl="1" indent="-28575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Time, day, month</a:t>
            </a:r>
          </a:p>
          <a:p>
            <a:pPr marL="742950" lvl="1" indent="-28575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Safety equipment</a:t>
            </a:r>
          </a:p>
          <a:p>
            <a:pPr marL="742950" lvl="1" indent="-28575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Vehicle position</a:t>
            </a:r>
          </a:p>
          <a:p>
            <a:pPr marL="742950" lvl="1" indent="-28575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Bodily injury type</a:t>
            </a:r>
          </a:p>
          <a:p>
            <a:pPr lvl="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F551B5-D588-5B2C-748F-10DACFBB6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8355" y="1098984"/>
            <a:ext cx="2019404" cy="9906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5AE425-7973-B4D0-D969-9A597A4F80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43"/>
          <a:stretch>
            <a:fillRect/>
          </a:stretch>
        </p:blipFill>
        <p:spPr>
          <a:xfrm>
            <a:off x="7380514" y="2734077"/>
            <a:ext cx="2121009" cy="9779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D969C9-D989-D207-AEE7-75797BC35E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9257" y="4131090"/>
            <a:ext cx="2057506" cy="9906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44636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E574C-4607-013C-34F6-29E1AAFD2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30630"/>
            <a:ext cx="10018713" cy="551541"/>
          </a:xfrm>
        </p:spPr>
        <p:txBody>
          <a:bodyPr>
            <a:normAutofit/>
          </a:bodyPr>
          <a:lstStyle/>
          <a:p>
            <a:r>
              <a:rPr lang="en-US" sz="2800" b="1" dirty="0"/>
              <a:t>Accident Severity Distribution (Target / </a:t>
            </a:r>
            <a:r>
              <a:rPr lang="en-IN" sz="2800" b="1" dirty="0"/>
              <a:t>Person Injury</a:t>
            </a:r>
            <a:r>
              <a:rPr lang="en-US" sz="2800" b="1" dirty="0"/>
              <a:t> Analysis)</a:t>
            </a:r>
            <a:endParaRPr lang="en-IN" sz="28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FD555E-F339-7759-7E4A-9EE33B2BC9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9658" y="1217655"/>
            <a:ext cx="3323771" cy="26794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4E4F0C-3001-A204-28B7-3154DB83E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217655"/>
            <a:ext cx="5769429" cy="45517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56122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697DA-E2CB-9CE6-A5B8-0702D91CE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368" y="0"/>
            <a:ext cx="10018713" cy="714829"/>
          </a:xfrm>
        </p:spPr>
        <p:txBody>
          <a:bodyPr>
            <a:normAutofit/>
          </a:bodyPr>
          <a:lstStyle/>
          <a:p>
            <a:r>
              <a:rPr lang="en-US" sz="3200" b="1" dirty="0"/>
              <a:t>Temporal Analysis (When accidents happen?)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F6F4C-AF60-C328-9BFD-2B9722240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776514"/>
            <a:ext cx="10018713" cy="58782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dirty="0"/>
              <a:t>✅ </a:t>
            </a:r>
            <a:r>
              <a:rPr lang="en-IN" sz="1600" b="1" dirty="0"/>
              <a:t>Total Injured by Years                                                                             </a:t>
            </a:r>
            <a:r>
              <a:rPr lang="en-IN" sz="1600" dirty="0"/>
              <a:t>✅ </a:t>
            </a:r>
            <a:r>
              <a:rPr lang="en-IN" sz="1600" b="1" dirty="0"/>
              <a:t>Total Injured by Month</a:t>
            </a:r>
          </a:p>
          <a:p>
            <a:endParaRPr lang="en-IN" sz="1600" b="1" dirty="0"/>
          </a:p>
          <a:p>
            <a:endParaRPr lang="en-IN" sz="1600" b="1" dirty="0"/>
          </a:p>
          <a:p>
            <a:endParaRPr lang="en-IN" sz="1600" b="1" dirty="0"/>
          </a:p>
          <a:p>
            <a:endParaRPr lang="en-IN" sz="1600" b="1" dirty="0"/>
          </a:p>
          <a:p>
            <a:endParaRPr lang="en-IN" sz="1600" b="1" dirty="0"/>
          </a:p>
          <a:p>
            <a:endParaRPr lang="en-IN" sz="1600" b="1" dirty="0"/>
          </a:p>
          <a:p>
            <a:endParaRPr lang="en-IN" sz="1600" b="1" dirty="0"/>
          </a:p>
          <a:p>
            <a:endParaRPr lang="en-IN" sz="1600" b="1" dirty="0"/>
          </a:p>
          <a:p>
            <a:endParaRPr lang="en-IN" sz="1600" b="1" dirty="0"/>
          </a:p>
          <a:p>
            <a:endParaRPr lang="en-IN" sz="1600" b="1" dirty="0"/>
          </a:p>
          <a:p>
            <a:endParaRPr lang="en-IN" sz="1600" b="1" dirty="0"/>
          </a:p>
          <a:p>
            <a:endParaRPr lang="en-IN" sz="1600" b="1" dirty="0"/>
          </a:p>
          <a:p>
            <a:endParaRPr lang="en-IN" sz="1600" b="1" dirty="0"/>
          </a:p>
          <a:p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2F396D-CA4B-794B-16F6-D3DC9F71E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368" y="1560287"/>
            <a:ext cx="4807632" cy="44124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66E700-A372-B538-BA29-3740129F4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942" y="1560287"/>
            <a:ext cx="5682487" cy="27069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47189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42989-9C32-8E48-8924-CFAD127F5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0"/>
            <a:ext cx="10018713" cy="522514"/>
          </a:xfrm>
        </p:spPr>
        <p:txBody>
          <a:bodyPr>
            <a:normAutofit/>
          </a:bodyPr>
          <a:lstStyle/>
          <a:p>
            <a:r>
              <a:rPr lang="en-IN" sz="2800" b="1" dirty="0"/>
              <a:t>Accident Timing &amp; Day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5F963-C871-D57F-1F25-68CD91324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754743"/>
            <a:ext cx="10018713" cy="5558971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✅ </a:t>
            </a:r>
            <a:r>
              <a:rPr lang="en-US" sz="1600" b="1" dirty="0"/>
              <a:t>Total Accidents by Hours                                                                     </a:t>
            </a:r>
            <a:r>
              <a:rPr lang="en-US" sz="1600" dirty="0"/>
              <a:t>✅</a:t>
            </a:r>
            <a:r>
              <a:rPr lang="en-US" sz="1600" b="1" dirty="0"/>
              <a:t>  </a:t>
            </a:r>
            <a:r>
              <a:rPr lang="en-IN" sz="1600" b="1" dirty="0"/>
              <a:t>Total Accidents by Day Name   </a:t>
            </a:r>
            <a:endParaRPr lang="en-US" sz="1600" b="1" dirty="0"/>
          </a:p>
          <a:p>
            <a:pPr marL="0" indent="0">
              <a:buNone/>
            </a:pPr>
            <a:r>
              <a:rPr lang="en-US" sz="1600" dirty="0"/>
              <a:t>    Peak during evening rush hours (4–8 PM)                                              </a:t>
            </a:r>
            <a:r>
              <a:rPr lang="en-IN" sz="1600" dirty="0"/>
              <a:t>Friday highest | Sunday lowest</a:t>
            </a:r>
          </a:p>
          <a:p>
            <a:pPr marL="457200" lvl="1" indent="0">
              <a:buNone/>
            </a:pPr>
            <a:endParaRPr lang="en-US" sz="1600" dirty="0"/>
          </a:p>
          <a:p>
            <a:pPr marL="457200" lvl="1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71CFFE-3C8A-3596-A5FF-201DC05A2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900" y="1918551"/>
            <a:ext cx="4945671" cy="25445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483D6B-0519-5228-9203-E21A7B4E3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666" y="1918551"/>
            <a:ext cx="5466105" cy="25445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63078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8654F-7DEB-B83A-1EE1-28557F337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225" y="105228"/>
            <a:ext cx="10018713" cy="475343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Injury Severity Details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EEF0C-5C23-D6E4-46DE-AC5F85E0E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783771"/>
            <a:ext cx="10018713" cy="5435600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✅ </a:t>
            </a:r>
            <a:r>
              <a:rPr lang="en-US" sz="1600" b="1" dirty="0"/>
              <a:t>Count of Bodily Injured</a:t>
            </a:r>
          </a:p>
          <a:p>
            <a:pPr marL="0" indent="0">
              <a:buNone/>
            </a:pPr>
            <a:r>
              <a:rPr lang="en-US" sz="1600" dirty="0"/>
              <a:t>      Neck, back, head most affected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F368C5-1199-899A-3F26-A8566201C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457" y="1560287"/>
            <a:ext cx="7736114" cy="444137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893630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D00A6-B2F1-966E-5071-37F2EE921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97" y="0"/>
            <a:ext cx="10018713" cy="475343"/>
          </a:xfrm>
        </p:spPr>
        <p:txBody>
          <a:bodyPr>
            <a:normAutofit fontScale="90000"/>
          </a:bodyPr>
          <a:lstStyle/>
          <a:p>
            <a:r>
              <a:rPr lang="en-IN" sz="2800" b="1" dirty="0"/>
              <a:t>Safety Equipment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71623-8841-D634-632A-A439ABAF3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3372" y="703943"/>
            <a:ext cx="10109652" cy="5515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✅ </a:t>
            </a:r>
            <a:r>
              <a:rPr lang="en-US" sz="1600" b="1" dirty="0"/>
              <a:t>Total Accidents by Safety Equipment                                                </a:t>
            </a:r>
            <a:r>
              <a:rPr lang="en-US" sz="1600" dirty="0"/>
              <a:t>✅ </a:t>
            </a:r>
            <a:r>
              <a:rPr lang="en-US" sz="1600" b="1" dirty="0"/>
              <a:t>Count of Person Injury by Safety Equipment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A5F6DD-9C97-CE92-29BD-5095A1753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57" y="1411864"/>
            <a:ext cx="5783944" cy="45244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1B8539-4F00-F833-4D4B-B334F6982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1" y="1411863"/>
            <a:ext cx="5783944" cy="45244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74923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5A424-AF34-2904-72FA-9B0111B23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625" y="0"/>
            <a:ext cx="10018713" cy="580570"/>
          </a:xfrm>
        </p:spPr>
        <p:txBody>
          <a:bodyPr>
            <a:normAutofit/>
          </a:bodyPr>
          <a:lstStyle/>
          <a:p>
            <a:r>
              <a:rPr lang="en-IN" sz="2800" b="1" dirty="0"/>
              <a:t>Vehicle Position Risk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620B2-3D20-1116-9197-3EE9172B6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820057"/>
            <a:ext cx="10018713" cy="49711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✅ </a:t>
            </a:r>
            <a:r>
              <a:rPr lang="en-US" sz="1800" b="1" dirty="0"/>
              <a:t>Count of Person Injury by Vehicle Positions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IN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901E2E-B86F-0E11-0FFA-90F082235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96" y="1333366"/>
            <a:ext cx="10554242" cy="52072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0685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00E52-9F99-5B5F-6B9E-8F5556A46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826" y="112486"/>
            <a:ext cx="10018713" cy="439057"/>
          </a:xfrm>
        </p:spPr>
        <p:txBody>
          <a:bodyPr>
            <a:noAutofit/>
          </a:bodyPr>
          <a:lstStyle/>
          <a:p>
            <a:r>
              <a:rPr lang="en-IN" sz="2800" b="1" dirty="0"/>
              <a:t>Machine Learning Approach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2EDC9BD-22D2-793D-AD7A-DC3F6A2090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06827" y="1038142"/>
            <a:ext cx="7238772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Type: Binary Classification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 used: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 Regression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Forest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 Boosting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endParaRPr lang="en-US" alt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Techniques applied: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value imputation</a:t>
            </a:r>
          </a:p>
          <a:p>
            <a:pPr marR="0"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One-Hot Encoding</a:t>
            </a:r>
          </a:p>
          <a:p>
            <a:pPr marR="0"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scaling</a:t>
            </a:r>
          </a:p>
          <a:p>
            <a:pPr marR="0"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SMOTE for imbalance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491ECFCD-6255-5854-DB5A-BCF5D31BF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829" y="1116920"/>
            <a:ext cx="4962298" cy="4333875"/>
          </a:xfrm>
          <a:prstGeom prst="roundRect">
            <a:avLst>
              <a:gd name="adj" fmla="val 16667"/>
            </a:avLst>
          </a:prstGeom>
          <a:ln>
            <a:solidFill>
              <a:schemeClr val="tx2">
                <a:lumMod val="75000"/>
                <a:lumOff val="25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476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E62DB-278A-74DD-D866-4647D9D14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13003" y="60418"/>
            <a:ext cx="10018713" cy="558799"/>
          </a:xfrm>
        </p:spPr>
        <p:txBody>
          <a:bodyPr>
            <a:normAutofit/>
          </a:bodyPr>
          <a:lstStyle/>
          <a:p>
            <a:r>
              <a:rPr lang="en-IN" sz="2800" b="1" dirty="0"/>
              <a:t>Model Performance Comparison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3E12B9E-7EC9-E733-6E70-1C49745C8F1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714" y="123372"/>
            <a:ext cx="4049485" cy="31470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bg2">
                <a:lumMod val="75000"/>
              </a:schemeClr>
            </a:solidFill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43E1AF53-D605-B87F-4A76-0174CB53F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714" y="3429000"/>
            <a:ext cx="4049484" cy="298631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bg2">
                <a:lumMod val="75000"/>
              </a:schemeClr>
            </a:solidFill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6A703E-8BAE-8318-2313-706D0CBD4DCB}"/>
              </a:ext>
            </a:extLst>
          </p:cNvPr>
          <p:cNvSpPr txBox="1"/>
          <p:nvPr/>
        </p:nvSpPr>
        <p:spPr>
          <a:xfrm>
            <a:off x="1451429" y="653076"/>
            <a:ext cx="66402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CC"/>
                </a:solidFill>
              </a:rPr>
              <a:t>Model Performance Evaluation – </a:t>
            </a:r>
            <a:r>
              <a:rPr lang="en-IN" b="1" dirty="0">
                <a:solidFill>
                  <a:srgbClr val="0066CC"/>
                </a:solidFill>
              </a:rPr>
              <a:t>Logistic Regression</a:t>
            </a:r>
          </a:p>
          <a:p>
            <a:endParaRPr lang="en-IN" b="1" dirty="0">
              <a:solidFill>
                <a:srgbClr val="0066CC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9FCABEB-CBB9-3BE2-E64B-80BC31E06F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239830"/>
              </p:ext>
            </p:extLst>
          </p:nvPr>
        </p:nvGraphicFramePr>
        <p:xfrm>
          <a:off x="972456" y="2953657"/>
          <a:ext cx="6400800" cy="3395769"/>
        </p:xfrm>
        <a:graphic>
          <a:graphicData uri="http://schemas.openxmlformats.org/drawingml/2006/table">
            <a:tbl>
              <a:tblPr/>
              <a:tblGrid>
                <a:gridCol w="1625601">
                  <a:extLst>
                    <a:ext uri="{9D8B030D-6E8A-4147-A177-3AD203B41FA5}">
                      <a16:colId xmlns:a16="http://schemas.microsoft.com/office/drawing/2014/main" val="1718911078"/>
                    </a:ext>
                  </a:extLst>
                </a:gridCol>
                <a:gridCol w="1030514">
                  <a:extLst>
                    <a:ext uri="{9D8B030D-6E8A-4147-A177-3AD203B41FA5}">
                      <a16:colId xmlns:a16="http://schemas.microsoft.com/office/drawing/2014/main" val="1190913843"/>
                    </a:ext>
                  </a:extLst>
                </a:gridCol>
                <a:gridCol w="1178411">
                  <a:extLst>
                    <a:ext uri="{9D8B030D-6E8A-4147-A177-3AD203B41FA5}">
                      <a16:colId xmlns:a16="http://schemas.microsoft.com/office/drawing/2014/main" val="2937771306"/>
                    </a:ext>
                  </a:extLst>
                </a:gridCol>
                <a:gridCol w="1283137">
                  <a:extLst>
                    <a:ext uri="{9D8B030D-6E8A-4147-A177-3AD203B41FA5}">
                      <a16:colId xmlns:a16="http://schemas.microsoft.com/office/drawing/2014/main" val="935817219"/>
                    </a:ext>
                  </a:extLst>
                </a:gridCol>
                <a:gridCol w="1283137">
                  <a:extLst>
                    <a:ext uri="{9D8B030D-6E8A-4147-A177-3AD203B41FA5}">
                      <a16:colId xmlns:a16="http://schemas.microsoft.com/office/drawing/2014/main" val="745990037"/>
                    </a:ext>
                  </a:extLst>
                </a:gridCol>
              </a:tblGrid>
              <a:tr h="457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F1-Score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88373"/>
                  </a:ext>
                </a:extLst>
              </a:tr>
              <a:tr h="457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Injured (0)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1.00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1.00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1.00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45927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5237912"/>
                  </a:ext>
                </a:extLst>
              </a:tr>
              <a:tr h="457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Killed 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0.33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0.40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0.36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205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175815"/>
                  </a:ext>
                </a:extLst>
              </a:tr>
              <a:tr h="457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Accuracy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i="0" u="sng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  <a:endParaRPr lang="en-IN" sz="1800" b="1" u="sng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46132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773093"/>
                  </a:ext>
                </a:extLst>
              </a:tr>
              <a:tr h="7632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Macro Avg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 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0.68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46132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213616"/>
                  </a:ext>
                </a:extLst>
              </a:tr>
              <a:tr h="801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Weighted </a:t>
                      </a:r>
                      <a:r>
                        <a:rPr lang="en-IN" sz="1800" b="1" dirty="0" err="1"/>
                        <a:t>Avg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46132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94465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E03E84E-F467-CE95-8F93-8BEC61F31C29}"/>
              </a:ext>
            </a:extLst>
          </p:cNvPr>
          <p:cNvSpPr txBox="1"/>
          <p:nvPr/>
        </p:nvSpPr>
        <p:spPr>
          <a:xfrm>
            <a:off x="1371600" y="1055523"/>
            <a:ext cx="64008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Model Details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/>
              <a:t>Algorithm:</a:t>
            </a:r>
            <a:r>
              <a:rPr lang="en-IN" sz="1400" dirty="0"/>
              <a:t> Random Forest Classifier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/>
              <a:t>Problem Type:</a:t>
            </a:r>
            <a:r>
              <a:rPr lang="en-IN" sz="1400" dirty="0"/>
              <a:t> Binary Classification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/>
              <a:t>Target Variable:</a:t>
            </a:r>
            <a:r>
              <a:rPr lang="en-IN" sz="1400" dirty="0"/>
              <a:t> Accident Severity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0 → Injured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1 → Killed (Fatal)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/>
              <a:t>Imbalance Handling:</a:t>
            </a:r>
            <a:r>
              <a:rPr lang="en-IN" sz="1400" dirty="0"/>
              <a:t> SMOTE + Recall Optimization</a:t>
            </a:r>
          </a:p>
        </p:txBody>
      </p:sp>
    </p:spTree>
    <p:extLst>
      <p:ext uri="{BB962C8B-B14F-4D97-AF65-F5344CB8AC3E}">
        <p14:creationId xmlns:p14="http://schemas.microsoft.com/office/powerpoint/2010/main" val="1113245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AC405-4283-B459-CCCD-620953E20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40B43-C273-2747-A8C2-27C8228B9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13003" y="60418"/>
            <a:ext cx="10018713" cy="558799"/>
          </a:xfrm>
        </p:spPr>
        <p:txBody>
          <a:bodyPr>
            <a:normAutofit/>
          </a:bodyPr>
          <a:lstStyle/>
          <a:p>
            <a:r>
              <a:rPr lang="en-IN" sz="2800" b="1" dirty="0"/>
              <a:t>Model Performance Comparison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2C327E-400B-8983-7555-69A3BFE6A244}"/>
              </a:ext>
            </a:extLst>
          </p:cNvPr>
          <p:cNvSpPr txBox="1"/>
          <p:nvPr/>
        </p:nvSpPr>
        <p:spPr>
          <a:xfrm>
            <a:off x="1422401" y="736598"/>
            <a:ext cx="66402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6CC"/>
                </a:solidFill>
              </a:rPr>
              <a:t>Model Performance Evaluation – </a:t>
            </a:r>
            <a:r>
              <a:rPr lang="en-IN" b="1" dirty="0">
                <a:solidFill>
                  <a:srgbClr val="0066CC"/>
                </a:solidFill>
              </a:rPr>
              <a:t>Random Forest</a:t>
            </a:r>
          </a:p>
          <a:p>
            <a:endParaRPr lang="en-IN" b="1" dirty="0">
              <a:solidFill>
                <a:srgbClr val="0066CC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EBB676C-BD18-AAEF-84EE-4833C6921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849780"/>
              </p:ext>
            </p:extLst>
          </p:nvPr>
        </p:nvGraphicFramePr>
        <p:xfrm>
          <a:off x="1153887" y="1632857"/>
          <a:ext cx="6400800" cy="3395769"/>
        </p:xfrm>
        <a:graphic>
          <a:graphicData uri="http://schemas.openxmlformats.org/drawingml/2006/table">
            <a:tbl>
              <a:tblPr/>
              <a:tblGrid>
                <a:gridCol w="1625601">
                  <a:extLst>
                    <a:ext uri="{9D8B030D-6E8A-4147-A177-3AD203B41FA5}">
                      <a16:colId xmlns:a16="http://schemas.microsoft.com/office/drawing/2014/main" val="1718911078"/>
                    </a:ext>
                  </a:extLst>
                </a:gridCol>
                <a:gridCol w="1030514">
                  <a:extLst>
                    <a:ext uri="{9D8B030D-6E8A-4147-A177-3AD203B41FA5}">
                      <a16:colId xmlns:a16="http://schemas.microsoft.com/office/drawing/2014/main" val="1190913843"/>
                    </a:ext>
                  </a:extLst>
                </a:gridCol>
                <a:gridCol w="1178411">
                  <a:extLst>
                    <a:ext uri="{9D8B030D-6E8A-4147-A177-3AD203B41FA5}">
                      <a16:colId xmlns:a16="http://schemas.microsoft.com/office/drawing/2014/main" val="2937771306"/>
                    </a:ext>
                  </a:extLst>
                </a:gridCol>
                <a:gridCol w="1283137">
                  <a:extLst>
                    <a:ext uri="{9D8B030D-6E8A-4147-A177-3AD203B41FA5}">
                      <a16:colId xmlns:a16="http://schemas.microsoft.com/office/drawing/2014/main" val="935817219"/>
                    </a:ext>
                  </a:extLst>
                </a:gridCol>
                <a:gridCol w="1283137">
                  <a:extLst>
                    <a:ext uri="{9D8B030D-6E8A-4147-A177-3AD203B41FA5}">
                      <a16:colId xmlns:a16="http://schemas.microsoft.com/office/drawing/2014/main" val="745990037"/>
                    </a:ext>
                  </a:extLst>
                </a:gridCol>
              </a:tblGrid>
              <a:tr h="457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F1-Score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88373"/>
                  </a:ext>
                </a:extLst>
              </a:tr>
              <a:tr h="457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Injured (0)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1.00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0.82 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 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45927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5237912"/>
                  </a:ext>
                </a:extLst>
              </a:tr>
              <a:tr h="457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Killed 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0.56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0.36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205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175815"/>
                  </a:ext>
                </a:extLst>
              </a:tr>
              <a:tr h="457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Accuracy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i="0" u="sng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0.82</a:t>
                      </a:r>
                      <a:endParaRPr lang="en-IN" sz="1800" b="1" u="sng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46132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773093"/>
                  </a:ext>
                </a:extLst>
              </a:tr>
              <a:tr h="7632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Macro Avg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0.51 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0.69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0.47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46132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213616"/>
                  </a:ext>
                </a:extLst>
              </a:tr>
              <a:tr h="801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Weighted </a:t>
                      </a:r>
                      <a:r>
                        <a:rPr lang="en-IN" sz="1800" b="1" dirty="0" err="1"/>
                        <a:t>Avg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0.82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46132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944653"/>
                  </a:ext>
                </a:extLst>
              </a:tr>
            </a:tbl>
          </a:graphicData>
        </a:graphic>
      </p:graphicFrame>
      <p:pic>
        <p:nvPicPr>
          <p:cNvPr id="6148" name="Picture 4">
            <a:extLst>
              <a:ext uri="{FF2B5EF4-FFF2-40B4-BE49-F238E27FC236}">
                <a16:creationId xmlns:a16="http://schemas.microsoft.com/office/drawing/2014/main" id="{11DEDDD4-8ABF-9298-E11A-EA32B990F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2144" y="133288"/>
            <a:ext cx="4049485" cy="31974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bg2">
                <a:lumMod val="75000"/>
              </a:schemeClr>
            </a:solidFill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9B2FA187-2D44-7C74-FB06-1FFF164BF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2144" y="3448122"/>
            <a:ext cx="4049485" cy="32765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bg2">
                <a:lumMod val="75000"/>
              </a:schemeClr>
            </a:solidFill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3099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41859-5E18-D25E-D302-E94A86E09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9BE7C-4F33-0B63-259B-CA09514E8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13003" y="60418"/>
            <a:ext cx="10018713" cy="558799"/>
          </a:xfrm>
        </p:spPr>
        <p:txBody>
          <a:bodyPr>
            <a:normAutofit/>
          </a:bodyPr>
          <a:lstStyle/>
          <a:p>
            <a:r>
              <a:rPr lang="en-IN" sz="2800" b="1" dirty="0"/>
              <a:t>Model Performance Comparison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D8090F-EF6B-A848-DD19-079822800C56}"/>
              </a:ext>
            </a:extLst>
          </p:cNvPr>
          <p:cNvSpPr txBox="1"/>
          <p:nvPr/>
        </p:nvSpPr>
        <p:spPr>
          <a:xfrm>
            <a:off x="1451429" y="653076"/>
            <a:ext cx="6640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0066CC"/>
                </a:solidFill>
              </a:rPr>
              <a:t>Model Performance Evaluation – </a:t>
            </a:r>
            <a:r>
              <a:rPr lang="en-US" altLang="en-US" b="1" dirty="0">
                <a:solidFill>
                  <a:srgbClr val="0066CC"/>
                </a:solidFill>
              </a:rPr>
              <a:t>Gradient Boosting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098B125-82B0-8594-4EFF-0C5F82BAD3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866114"/>
              </p:ext>
            </p:extLst>
          </p:nvPr>
        </p:nvGraphicFramePr>
        <p:xfrm>
          <a:off x="1364342" y="1364343"/>
          <a:ext cx="6328228" cy="3395769"/>
        </p:xfrm>
        <a:graphic>
          <a:graphicData uri="http://schemas.openxmlformats.org/drawingml/2006/table">
            <a:tbl>
              <a:tblPr/>
              <a:tblGrid>
                <a:gridCol w="1607170">
                  <a:extLst>
                    <a:ext uri="{9D8B030D-6E8A-4147-A177-3AD203B41FA5}">
                      <a16:colId xmlns:a16="http://schemas.microsoft.com/office/drawing/2014/main" val="1718911078"/>
                    </a:ext>
                  </a:extLst>
                </a:gridCol>
                <a:gridCol w="1018830">
                  <a:extLst>
                    <a:ext uri="{9D8B030D-6E8A-4147-A177-3AD203B41FA5}">
                      <a16:colId xmlns:a16="http://schemas.microsoft.com/office/drawing/2014/main" val="1190913843"/>
                    </a:ext>
                  </a:extLst>
                </a:gridCol>
                <a:gridCol w="1165050">
                  <a:extLst>
                    <a:ext uri="{9D8B030D-6E8A-4147-A177-3AD203B41FA5}">
                      <a16:colId xmlns:a16="http://schemas.microsoft.com/office/drawing/2014/main" val="2937771306"/>
                    </a:ext>
                  </a:extLst>
                </a:gridCol>
                <a:gridCol w="1268589">
                  <a:extLst>
                    <a:ext uri="{9D8B030D-6E8A-4147-A177-3AD203B41FA5}">
                      <a16:colId xmlns:a16="http://schemas.microsoft.com/office/drawing/2014/main" val="935817219"/>
                    </a:ext>
                  </a:extLst>
                </a:gridCol>
                <a:gridCol w="1268589">
                  <a:extLst>
                    <a:ext uri="{9D8B030D-6E8A-4147-A177-3AD203B41FA5}">
                      <a16:colId xmlns:a16="http://schemas.microsoft.com/office/drawing/2014/main" val="745990037"/>
                    </a:ext>
                  </a:extLst>
                </a:gridCol>
              </a:tblGrid>
              <a:tr h="457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F1-Score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88373"/>
                  </a:ext>
                </a:extLst>
              </a:tr>
              <a:tr h="457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Injured (0)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1.00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0.89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0.94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45927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5237912"/>
                  </a:ext>
                </a:extLst>
              </a:tr>
              <a:tr h="457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Killed 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205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175815"/>
                  </a:ext>
                </a:extLst>
              </a:tr>
              <a:tr h="457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Accuracy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i="0" u="sng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0.89</a:t>
                      </a:r>
                      <a:endParaRPr lang="en-IN" sz="1800" b="1" u="sng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46132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773093"/>
                  </a:ext>
                </a:extLst>
              </a:tr>
              <a:tr h="7632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Macro Avg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0.51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0.80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0.50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46132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213616"/>
                  </a:ext>
                </a:extLst>
              </a:tr>
              <a:tr h="801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Weighted </a:t>
                      </a:r>
                      <a:r>
                        <a:rPr lang="en-IN" sz="1800" b="1" dirty="0" err="1"/>
                        <a:t>Avg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0.89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0.94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46132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944653"/>
                  </a:ext>
                </a:extLst>
              </a:tr>
            </a:tbl>
          </a:graphicData>
        </a:graphic>
      </p:graphicFrame>
      <p:pic>
        <p:nvPicPr>
          <p:cNvPr id="5122" name="Picture 2">
            <a:extLst>
              <a:ext uri="{FF2B5EF4-FFF2-40B4-BE49-F238E27FC236}">
                <a16:creationId xmlns:a16="http://schemas.microsoft.com/office/drawing/2014/main" id="{FD8838D3-D9AC-07B2-59CF-8B5CC10D2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2228" y="151721"/>
            <a:ext cx="4070349" cy="30994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bg2">
                <a:lumMod val="75000"/>
              </a:schemeClr>
            </a:solidFill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AB67D5ED-79A9-1F7B-1360-00333813E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2228" y="3428999"/>
            <a:ext cx="4070349" cy="32772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bg2">
                <a:lumMod val="75000"/>
              </a:schemeClr>
            </a:solidFill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4084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833A0-36E1-6ECF-EBF1-78E628E86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397" y="105230"/>
            <a:ext cx="10018713" cy="635000"/>
          </a:xfrm>
        </p:spPr>
        <p:txBody>
          <a:bodyPr>
            <a:normAutofit/>
          </a:bodyPr>
          <a:lstStyle/>
          <a:p>
            <a:r>
              <a:rPr lang="en-IN" sz="2800" b="1" dirty="0"/>
              <a:t>Feature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329EF-36B2-2AAE-5DC7-7C86699C5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103087"/>
            <a:ext cx="10018713" cy="46881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                                                        ✅ </a:t>
            </a:r>
            <a:r>
              <a:rPr lang="en-US" sz="1800" b="1" dirty="0"/>
              <a:t>Top Factors Influencing Accident Severity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IN" sz="1800" dirty="0"/>
          </a:p>
        </p:txBody>
      </p:sp>
      <p:pic>
        <p:nvPicPr>
          <p:cNvPr id="7174" name="Picture 6">
            <a:extLst>
              <a:ext uri="{FF2B5EF4-FFF2-40B4-BE49-F238E27FC236}">
                <a16:creationId xmlns:a16="http://schemas.microsoft.com/office/drawing/2014/main" id="{C70422FD-A483-4AF5-111A-736C30671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788" y="1871663"/>
            <a:ext cx="797242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7576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2531C-7D90-A8A4-1706-B5B6A648E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2083" y="725714"/>
            <a:ext cx="10018713" cy="6023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600" dirty="0"/>
              <a:t>✅ </a:t>
            </a:r>
            <a:r>
              <a:rPr lang="en-US" sz="1600" b="1" dirty="0"/>
              <a:t>Recall vs Threshold Curve             </a:t>
            </a:r>
            <a:r>
              <a:rPr lang="en-US" sz="1600" dirty="0"/>
              <a:t>✅ </a:t>
            </a:r>
            <a:r>
              <a:rPr lang="en-US" sz="1600" b="1" dirty="0"/>
              <a:t>Recall-Optimized Confusion Matrix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D43CAC-5C69-D383-78DD-DF47AAE6F21D}"/>
              </a:ext>
            </a:extLst>
          </p:cNvPr>
          <p:cNvSpPr txBox="1"/>
          <p:nvPr/>
        </p:nvSpPr>
        <p:spPr>
          <a:xfrm>
            <a:off x="2794001" y="8786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/>
              <a:t>Recall Optimization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A3B67BC-3C3B-B116-60E0-C8EE223A1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326" y="1661887"/>
            <a:ext cx="5400675" cy="43338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bg2">
                <a:lumMod val="10000"/>
              </a:schemeClr>
            </a:solidFill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4088137B-F30A-785B-1A73-5F48C736B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0424" y="1661887"/>
            <a:ext cx="5114925" cy="43338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bg2">
                <a:lumMod val="10000"/>
              </a:schemeClr>
            </a:solidFill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7100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C0506-0E48-1F47-D401-C6B00E876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369" y="366486"/>
            <a:ext cx="10018713" cy="489857"/>
          </a:xfrm>
        </p:spPr>
        <p:txBody>
          <a:bodyPr>
            <a:noAutofit/>
          </a:bodyPr>
          <a:lstStyle/>
          <a:p>
            <a:r>
              <a:rPr lang="en-IN" sz="3200" b="1" dirty="0"/>
              <a:t>Final Results &amp; 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0DEB50-B4B0-D082-F89E-E2FA4DF43D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89856" y="1776668"/>
            <a:ext cx="5361083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end-to-end accident severity prediction system</a:t>
            </a:r>
          </a:p>
          <a:p>
            <a:pPr marL="0" marR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Identified key risk factors</a:t>
            </a:r>
          </a:p>
          <a:p>
            <a:pPr marL="0" marR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Optimized model for fatal case recall</a:t>
            </a:r>
          </a:p>
          <a:p>
            <a:pPr marL="0" marR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support: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Arial" panose="020B0604020202020204" pitchFamily="34" charset="0"/>
              </a:rPr>
              <a:t>Emergency response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Arial" panose="020B0604020202020204" pitchFamily="34" charset="0"/>
              </a:rPr>
              <a:t>Road safety planning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Arial" panose="020B0604020202020204" pitchFamily="34" charset="0"/>
              </a:rPr>
              <a:t>Policy decisions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889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7044F-59C0-F9E8-09B5-A2F2A6CD1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33829"/>
            <a:ext cx="10018713" cy="504371"/>
          </a:xfrm>
        </p:spPr>
        <p:txBody>
          <a:bodyPr>
            <a:noAutofit/>
          </a:bodyPr>
          <a:lstStyle/>
          <a:p>
            <a:r>
              <a:rPr lang="en-IN" sz="3200" b="1" dirty="0"/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01B57-7B09-AEDA-F51F-A23B009E5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29657"/>
            <a:ext cx="10018713" cy="5094514"/>
          </a:xfrm>
        </p:spPr>
        <p:txBody>
          <a:bodyPr>
            <a:normAutofit/>
          </a:bodyPr>
          <a:lstStyle/>
          <a:p>
            <a:r>
              <a:rPr lang="en-US" b="1" dirty="0"/>
              <a:t>Future Scope &amp; Enhancements</a:t>
            </a:r>
          </a:p>
          <a:p>
            <a:r>
              <a:rPr lang="en-US" b="1" dirty="0"/>
              <a:t>Multi-Class Severity Prediction</a:t>
            </a:r>
            <a:br>
              <a:rPr lang="en-US" dirty="0"/>
            </a:br>
            <a:r>
              <a:rPr lang="en-US" sz="1800" dirty="0"/>
              <a:t>Extend the model to predict multiple severity levels instead of binary classification.</a:t>
            </a:r>
          </a:p>
          <a:p>
            <a:r>
              <a:rPr lang="en-US" b="1" dirty="0"/>
              <a:t>Incorporating External Data Sources</a:t>
            </a:r>
            <a:br>
              <a:rPr lang="en-US" dirty="0"/>
            </a:br>
            <a:r>
              <a:rPr lang="en-US" sz="1900" dirty="0"/>
              <a:t>Add weather conditions, road type, and traffic density to improve prediction accuracy.</a:t>
            </a:r>
          </a:p>
          <a:p>
            <a:r>
              <a:rPr lang="en-US" b="1" dirty="0"/>
              <a:t>Real-Time Accident Severity Prediction</a:t>
            </a:r>
            <a:br>
              <a:rPr lang="en-US" dirty="0"/>
            </a:br>
            <a:r>
              <a:rPr lang="en-US" sz="1900" dirty="0"/>
              <a:t>Deploy the model using APIs for real-time accident risk assessment.</a:t>
            </a:r>
          </a:p>
          <a:p>
            <a:r>
              <a:rPr lang="en-US" b="1" dirty="0"/>
              <a:t>Advanced Machine Learning Models</a:t>
            </a:r>
            <a:br>
              <a:rPr lang="en-US" dirty="0"/>
            </a:br>
            <a:r>
              <a:rPr lang="en-US" sz="1900" dirty="0"/>
              <a:t>Experiment with XGBoost, LightGBM, or deep learning techniques for better performance.</a:t>
            </a:r>
          </a:p>
          <a:p>
            <a:r>
              <a:rPr lang="en-US" b="1" dirty="0"/>
              <a:t>Explainable AI (XAI)</a:t>
            </a:r>
            <a:br>
              <a:rPr lang="en-US" dirty="0"/>
            </a:br>
            <a:r>
              <a:rPr lang="en-US" sz="1900" dirty="0"/>
              <a:t>Use SHAP or LIME to improve model interpretability for decision-makers.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06294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EB8F22"/>
      </a:accent1>
      <a:accent2>
        <a:srgbClr val="CD4223"/>
      </a:accent2>
      <a:accent3>
        <a:srgbClr val="A89374"/>
      </a:accent3>
      <a:accent4>
        <a:srgbClr val="83AA67"/>
      </a:accent4>
      <a:accent5>
        <a:srgbClr val="4FA9C1"/>
      </a:accent5>
      <a:accent6>
        <a:srgbClr val="9390AF"/>
      </a:accent6>
      <a:hlink>
        <a:srgbClr val="EC7220"/>
      </a:hlink>
      <a:folHlink>
        <a:srgbClr val="F09355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EBEC8F79-A447-43FC-8E81-85E8468AF3F9}"/>
    </a:ext>
  </a:extLst>
</a:theme>
</file>

<file path=ppt/theme/themeOverride1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EB8F22"/>
    </a:accent1>
    <a:accent2>
      <a:srgbClr val="CD4223"/>
    </a:accent2>
    <a:accent3>
      <a:srgbClr val="A89374"/>
    </a:accent3>
    <a:accent4>
      <a:srgbClr val="83AA67"/>
    </a:accent4>
    <a:accent5>
      <a:srgbClr val="4FA9C1"/>
    </a:accent5>
    <a:accent6>
      <a:srgbClr val="9390AF"/>
    </a:accent6>
    <a:hlink>
      <a:srgbClr val="EC7220"/>
    </a:hlink>
    <a:folHlink>
      <a:srgbClr val="F0935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353</TotalTime>
  <Words>545</Words>
  <Application>Microsoft Office PowerPoint</Application>
  <PresentationFormat>Widescreen</PresentationFormat>
  <Paragraphs>233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Corbel</vt:lpstr>
      <vt:lpstr>Wingdings</vt:lpstr>
      <vt:lpstr>Parallax</vt:lpstr>
      <vt:lpstr>Accident Severity Prediction &amp; Safety Insights</vt:lpstr>
      <vt:lpstr>Business Problem &amp; Objective</vt:lpstr>
      <vt:lpstr>Dataset Overview</vt:lpstr>
      <vt:lpstr>Accident Severity Distribution (Target / Person Injury Analysis)</vt:lpstr>
      <vt:lpstr>Temporal Analysis (When accidents happen?)</vt:lpstr>
      <vt:lpstr>Accident Timing &amp; Day Patterns</vt:lpstr>
      <vt:lpstr>Injury Severity Details</vt:lpstr>
      <vt:lpstr>Safety Equipment Analysis</vt:lpstr>
      <vt:lpstr>Vehicle Position Risk Analysis</vt:lpstr>
      <vt:lpstr>Machine Learning Approach</vt:lpstr>
      <vt:lpstr>Model Performance Comparison</vt:lpstr>
      <vt:lpstr>Model Performance Comparison</vt:lpstr>
      <vt:lpstr>Model Performance Comparison</vt:lpstr>
      <vt:lpstr>Feature Importance</vt:lpstr>
      <vt:lpstr>PowerPoint Presentation</vt:lpstr>
      <vt:lpstr>Final Results &amp; Conclusion</vt:lpstr>
      <vt:lpstr>Future 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 lade</dc:creator>
  <cp:lastModifiedBy>pavan lade</cp:lastModifiedBy>
  <cp:revision>2</cp:revision>
  <dcterms:created xsi:type="dcterms:W3CDTF">2026-02-02T08:30:44Z</dcterms:created>
  <dcterms:modified xsi:type="dcterms:W3CDTF">2026-02-02T14:24:09Z</dcterms:modified>
</cp:coreProperties>
</file>